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12188952" cy="30861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DD7EE"/>
                </a:solidFill>
              </a:rPr>
              <a:t>CHANDRAAILABS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Enterprise HR RAG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31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DD7EE"/>
                </a:solidFill>
              </a:rPr>
              <a:t>Production-Grade Retrieval-Augmented Generation on Google Cloud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108960"/>
            <a:ext cx="5788152" cy="3657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182880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6499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Hybrid RAG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0088" y="3337560"/>
            <a:ext cx="182880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336499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Google Cloud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65776" y="3337560"/>
            <a:ext cx="182880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11496" y="336499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Gemini 2.5 Flash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41464" y="3337560"/>
            <a:ext cx="182880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87184" y="336499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Vertex AI Vector 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3337560"/>
            <a:ext cx="182880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336499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Enterprise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Chandra Nakkalakunta  ·  Principal Cloud &amp; AI/ML Architect  ·  Hyderabad, India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DD7EE"/>
                </a:solidFill>
              </a:rPr>
              <a:t>linkedin.com/in/chandra-nakkalakunta  ·  chandraailabs.com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5074920"/>
            <a:ext cx="6336792" cy="457200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5102352"/>
            <a:ext cx="6245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🌐  Live Demo: hr-rag-engine-946703664996.asia-south1.run.app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4358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Problem Statement &amp; Business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60934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6002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System 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6596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7510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965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Hybrid RAG — Retrieval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3172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34086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331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Personal RAG — Personalised Answers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70662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Response Caching (L1 + L2)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07238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063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Security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343814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3429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Privacy &amp; Compliance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3444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124358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Analytics &amp; User Feedback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60020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160934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16002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Operational Monitoring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96596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197510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8272" y="1965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Performance &amp; Evaluation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233172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7648" y="234086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48272" y="2331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Scalability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269748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270662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8272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Infrastructure &amp; GCP Resources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306324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307238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8272" y="3063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CI/CD Pipeline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429000"/>
            <a:ext cx="34747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27648" y="343814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48272" y="3429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</a:rPr>
              <a:t>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Why enterprises need smarter HR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39496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❌  Current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HR team spends 30-40% of time on repetitive policy questions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Employees wait hours for answers to leave / WFH / CTC queries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Policy documents scattered across SharePoint, Drive, Confluence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No unified personal data view — employee must switch 3-4 systems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Compliance risk from informal/verbal HR guidance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Zero analytics on what employees actually struggle with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43000"/>
            <a:ext cx="5943600" cy="534924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234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6B3C"/>
                </a:solidFill>
              </a:rPr>
              <a:t>✅  How This Platform Solves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9164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Instant natural language answers from official HR policy docs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Personal data (leaves, CTC, rating) served directly from HR DB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Hybrid RAG retrieves from all document sources simultaneously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Query router auto-detects intent — personal vs policy vs hybrid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Every answer cites the authoritative source document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95959"/>
                </a:solidFill>
              </a:rPr>
              <a:t>•  BigQuery analytics reveal top pain points — PII-free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End-to-end flow from employee question to personalised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828800" cy="6858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Employee
(Browser)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188720"/>
            <a:ext cx="1828800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123444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Google
OAuth 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188720"/>
            <a:ext cx="1828800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23444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Streamlit
UI (Cloud Run)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188720"/>
            <a:ext cx="1828800" cy="6858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23444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Query
Router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188720"/>
            <a:ext cx="1828800" cy="685800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20" y="123444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Gemini 2.5
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138988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</a:rPr>
              <a:t>→ OAuth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38988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</a:rPr>
              <a:t>→ 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8988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</a:rPr>
              <a:t>→ Intent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2248" y="138988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</a:rPr>
              <a:t>→ Prompt+Chunks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68880"/>
            <a:ext cx="2743200" cy="2743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48716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Personal Intent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34640"/>
            <a:ext cx="274320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852928"/>
            <a:ext cx="26517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3A6B"/>
                </a:solidFill>
              </a:rPr>
              <a:t>Cloud SQL
PostgreSQL
(HR Database)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468880"/>
            <a:ext cx="274320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48716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Policy Intent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2834640"/>
            <a:ext cx="274320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852928"/>
            <a:ext cx="26517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3A6B"/>
                </a:solidFill>
              </a:rPr>
              <a:t>BM25 + Vector
Search (RRF
Fusion)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248716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Hybrid Intent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0" y="2834640"/>
            <a:ext cx="274320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2852928"/>
            <a:ext cx="26517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3A6B"/>
                </a:solidFill>
              </a:rPr>
              <a:t>DB + Retrieval
Combined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0" y="3840480"/>
            <a:ext cx="4572000" cy="594360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391363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Personalised Answer + Source Citations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6177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Observability &amp; Storage Layer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892040"/>
            <a:ext cx="20116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919472"/>
            <a:ext cx="192024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Firestore
Cache (L2)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68880" y="4892040"/>
            <a:ext cx="20116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14600" y="4919472"/>
            <a:ext cx="192024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BigQuery
Analytics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4892040"/>
            <a:ext cx="20116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4919472"/>
            <a:ext cx="192024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Cloud
Logging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0" y="4892040"/>
            <a:ext cx="20116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4919472"/>
            <a:ext cx="192024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Cloud
Monitoring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52560" y="4892040"/>
            <a:ext cx="2011680" cy="594360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4919472"/>
            <a:ext cx="192024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User
Feedback BQ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Hybrid RAG — Retrieval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BM25 sparse + Vertex AI Vector Search dense, fused with Reciprocal Rank Fusion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6B"/>
                </a:solidFill>
              </a:rPr>
              <a:t>Retrieval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18288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700784"/>
            <a:ext cx="1773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1. User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700784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Raw natural language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322576"/>
            <a:ext cx="18288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359152"/>
            <a:ext cx="1773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2. BM25 Sparse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35915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Keyword matching, top-k candidates from local 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980944"/>
            <a:ext cx="18288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3017520"/>
            <a:ext cx="1773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3. Gemini Embedding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01752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gemini-embedding-001 (3072 dims) → dense vector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18288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675888"/>
            <a:ext cx="1773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4. Vector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67588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Vertex AI ANN index (STREAM_UPDATE mode), asia-south1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297680"/>
            <a:ext cx="18288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4334256"/>
            <a:ext cx="1773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5. RRF 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33425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Reciprocal Rank Fusion merges both result 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956048"/>
            <a:ext cx="18288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4992624"/>
            <a:ext cx="1773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6. Top-3 Chunks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992624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Highest-scored passages sent to Gemini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614416"/>
            <a:ext cx="18288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5650992"/>
            <a:ext cx="1773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7. Generation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565099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Gemini 2.5 Flash generates cited answer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143000"/>
            <a:ext cx="5577840" cy="237744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1234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Configuration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1627632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chunk_size = 1024 tokens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chunk_overlap = 200 tokens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alpha = 0.2 (BM25 weight)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top_k_final = 3 chunks to LLM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index dims = 3072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distance_measure = DOT_PRODUCT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657600"/>
            <a:ext cx="5577840" cy="2834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749039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Evaluation Results (60 questions · RAGAS)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355080" y="4114800"/>
          <a:ext cx="51206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188720"/>
                <a:gridCol w="100584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BM25 Only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Hybrid RAG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Latest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Avg Relevancy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0.857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Source Accuracy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Easy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0.706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Medium Questions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0.630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0.880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Hard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0.522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0.830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Personal RAG — Personalised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Employee-specific data from Cloud SQL merged with policy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4300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88720"/>
                <a:gridCol w="2194560"/>
                <a:gridCol w="512064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Intent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Data Source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Example Answer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How many leaves do I have?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personal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SQL HR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You have 12 casual + 0 sick leaves remaining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What is my CTC?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personal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SQL HR DB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Your CTC is ₹18.0L as of Jan 2024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What is my performance rating?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personal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SQL HR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Your latest rating: 4.5 / 5.0 (Exceeds)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Who is my manager?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personal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SQL HR DB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Your reporting manager is Rajesh Kumar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Am I eligible for WFH?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DB + Policy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Yes — Senior Engineers can WFH 3 days/week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What is the WFH policy?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Policy Docs (RAG)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According to Remote Work Policy v2.1...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Query Router — Intent Detection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572000"/>
            <a:ext cx="3749039" cy="3200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4599432"/>
            <a:ext cx="36576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Personal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919472"/>
            <a:ext cx="3749039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4956048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Regex detects \b(my|i)\b + personal data keywords
→ Direct Cloud SQL query, no vector search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4572000"/>
            <a:ext cx="3749039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4599432"/>
            <a:ext cx="36576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Hybrid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4919472"/>
            <a:ext cx="3749039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399" y="4956048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Personal + policy context needed
→ DB lookup + RAG retrieval + combined prompt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4572000"/>
            <a:ext cx="3749039" cy="320040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8" y="4599432"/>
            <a:ext cx="36576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8" y="4919472"/>
            <a:ext cx="3749039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38" y="4956048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Policy-only keywords (what is, how to, WFH policy)
→ BM25 + Vector Search + Gemini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Response Caching — L1 +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Two-level cache for sub-second policy responses · Personal queries never cached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6576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70432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L1 — In-Memory Cache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3657600" cy="3657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Type: Python dict per Cloud Run instance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TTL: 30 minutes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Size: 100 entries (LRU eviction)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Scope: Single container instance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BQ tag: model_used = cache_l1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Latency on hit: ~0 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257800"/>
            <a:ext cx="36576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527608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Fastest — no I/O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143000"/>
            <a:ext cx="36576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33672" y="1170432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L2 — Firestore Cache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508760"/>
            <a:ext cx="3657600" cy="3657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1572768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Type: Firestore 'rag_cache' collection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TTL: 24 hours (expires_at field)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Size: Unlimited (GCP managed)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Scope: Shared across all instances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BQ tag: model_used = cache_l2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Latency on hit: ~30-50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5257800"/>
            <a:ext cx="36576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33672" y="527608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Survives redeployments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143000"/>
            <a:ext cx="3657600" cy="34747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2" y="1170432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Cache Miss — Full Pipeline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1508760"/>
            <a:ext cx="3657600" cy="3657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572768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BM25 keyword search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Vertex AI Vector Search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RRF fusion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Gemini 2.5 Flash generation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Write to L1 + L2 (non-blocking)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62626"/>
                </a:solidFill>
              </a:rPr>
              <a:t>•  BQ tag: model_used = gemini-2.5-flash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5257800"/>
            <a:ext cx="3657600" cy="29260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527608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~3-5 seconds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669280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55A11"/>
                </a:solidFill>
              </a:rPr>
              <a:t>⚠️  Personal &amp; hybrid queries are NEVER cached — employee data must not be shared across users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Defence-in-depth across identity, container, network, data, and audit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52144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731520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Implementation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Identity &amp; 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Google OAuth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Company email domain enforcement; session tokens in-memory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Container Security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Binary Authorization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Only KMS RSA-4096 signed images permitted on Cloud Run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Secret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Secret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GEMINI_API_KEY, DB password — never in env vars or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Service Identity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4 Service Accounts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rag-engine-sa, ingestion-sa, evaluation-sa, cicd-sa (least privilege)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Data Encryption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CMEK + Cloud KMS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hr-rag-keyring encrypts GCS buckets, Cloud SQL, Firestore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VPC + Private Subnets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SQL on private IP; Cloud NAT for outbound; no public DB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Logging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All API calls logged; structured JSON with severity, user_id 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Container Image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Artifact Registry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Signed images only; vulnerability scanning on push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576072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</a:rPr>
              <a:t>Zero-Trust Principle: every component authenticates with a dedicated service account; no shared credentials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Privacy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GDPR Article 5 · India DPDP Act 2023 · Zero PII in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394960" cy="4892040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6B3C"/>
                </a:solidFill>
              </a:rPr>
              <a:t>✅  BigQuery STORES (anonymised)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27632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hashed_user_id — SHA-256, irreversible, 16-char prefix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question_category — leave / wfh / compensation / ...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intent — personal / policy / hybrid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department — Engineering / HR / Finance / ...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latency_ms — response time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model_used — cache_l1 / cache_l2 / gemini-2.5-flash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success — true / false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session_id — UUID per browser session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timestamp — UTC (BQ partition key)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feedback — positive / negative (feedback_logs table)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43000"/>
            <a:ext cx="5943600" cy="256032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2344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55A11"/>
                </a:solidFill>
              </a:rPr>
              <a:t>❌  BigQuery NEVER STORES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27632"/>
            <a:ext cx="5760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Employee name or email address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Actual question 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Actual answer 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CTC or salary figures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Leave balance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Performance ratings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Manager names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840480"/>
            <a:ext cx="594360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9319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Compliance Mapping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080760" y="429768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Regulation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How Met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GDPR Art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Data minimisation — no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India DPDP 2023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Anonymised analytics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Right to Erasure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Firestore TTL + partitioned BQ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Data Retention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BQ partitioned → auto-expire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Analytics &amp; User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Live BigQuery data · PII-free · Actionable insights for HR and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17043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Query Volume by Category (live data — 2026-05-26)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508760"/>
          <a:ext cx="621792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97280"/>
                <a:gridCol w="1005840"/>
                <a:gridCol w="1371600"/>
                <a:gridCol w="128016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Intent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Queries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Avg Latency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Cache Hits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leave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4,351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9 (4%)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wfh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4,536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3 (3%)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4,793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1 (2%)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travel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3,535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5,400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general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personal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2,195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compensation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personal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2,223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66560" y="1143000"/>
            <a:ext cx="512064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2344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Key 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60020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Personal queries (2-2.2s) are ~2× faster than policy — no vector search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Hybrid queries (5.4s) slowest — DB + retrieval + generation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Leave and WFH are most queried — useful for HR planning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Cache hit rate grows with usage (survives via Firestore 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4480560"/>
            <a:ext cx="5120640" cy="201168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457200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User Feedback (👍 / 👎)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4919472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Per-response thumbs up / thumbs down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Logged to BigQuery feedback_logs table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Anonymised — SHA-256 hashed user ID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Enables satisfaction tracking by category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Powers continuous improvement roadmap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Sample BQ Query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6400800" cy="15087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956048"/>
            <a:ext cx="6217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DCFE"/>
                </a:solidFill>
              </a:rPr>
              <a:t>SELECT question_category, intent,
  COUNTIF(feedback='positive') AS up,
  ROUND(COUNTIF(feedback='positive')*100.0/COUNT(*),1) AS pct
FROM `hr-rag-dev.hr_rag_metrics.feedback_logs`
GROUP BY 1,2 ORDER BY up DESC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Operational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Structured JSON logging + Cloud Monitoring dashboard + 4 alert policies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394960" cy="2834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App Layer — src/monitoring/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Structured JSON logs — severity, message, timestamp, extra fields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Every query logs: intent, latency_ms, chunks_retrieved, success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Cloud Run stdout → Cloud Logging parses JSON automatically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Per-user analytics to BigQuery (anonymised, non-blocking thread)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114800"/>
            <a:ext cx="5394960" cy="237744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20624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GCP Layer — Cloud Monitoring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57200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8-widget dashboard (request rate, p50/p95/p99 latency, error rate, CPU, memory, instances)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Uptime check — 5-min interval, asia-pacific probe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143000"/>
            <a:ext cx="594360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234440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Alert Policies (all → email notification)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664208"/>
            <a:ext cx="5577840" cy="34747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7007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🔔  5xx Error Rate &gt; 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01168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48256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5 min sustained · triggers incident 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807208"/>
            <a:ext cx="5577840" cy="34747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8437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🔔  p99 Latency &gt; 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15468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191256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5 min sustained · investigate retrieval perf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3950208"/>
            <a:ext cx="5577840" cy="34747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39867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🔔  Service Down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29768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4334256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Zero active instances for 10 min · critical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5093208"/>
            <a:ext cx="5577840" cy="34747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51297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🔔  Memory &gt; 85%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544068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5477256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5 min sustained · scale up or OOM risk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Performance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Latency profile · cache impact · Cloud Run auto-scaling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Latency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00200"/>
          <a:ext cx="53035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Typical Latency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L1 Cache hit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~0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In-memory, no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L2 Cache hit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30-50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Firestore read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Personal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1.5-2.5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SQL only, no 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Policy query (miss)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3-5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BM25 + VectorSearch + LLM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Hybrid query (miss)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4-6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DB + retrieval +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8-12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First request on new instance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217920" y="1143000"/>
            <a:ext cx="5577840" cy="25603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34440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Cloud Run Auto-Scaling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0020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Scale to zero when idle (cost-efficient)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Scales out on concurrent requests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Max instances configurable (default: 10)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Concurrency = 80 requests per instance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Min instances = 1 (avoids cold starts in prod)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840480"/>
            <a:ext cx="5577840" cy="2651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31920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Bottlenecks &amp; Mitigations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29768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Vector Search cold index → mitigated by L1/L2 cache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Gemini API latency → mitigated by streaming + cache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Cloud SQL connection pool → pgbouncer in prod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Streamlit single-thread → planned Chainlit migration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•  BQ analytics write → daemon thread, never blocks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Infrastructure &amp; GCP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Fully automated — 14 idempotent shell scripts + Makefile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52144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96112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Resource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Details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Project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hr-rag-dev | Region: asia-south1 (Mumbai)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VPC Network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hr-rag-vpc | 10.1.0.0/24 (app) + 10.2.0.0/24 (data)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hr-rag-engine | auto-scaling 0-10 | concurrency 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Vertex AI Vector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3072 dims · STREAM_UPDATE · DOT_PRODUCT distance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hr-rag-db · PostgreSQL · private IP · 12 demo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Firestore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rag_cache collection (L2) + hr_data (10 docs, 44 chunks)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GCS Buckets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documents / processed / artifacts /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BigQuery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hr_rag_metrics.query_logs + feedback_logs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Secret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gemini-api-key + hr-db-password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KMS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hr-rag-keyring · RSA-4096 signing key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Service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rag-engine-sa / ingestion-sa / evaluation-sa / cicd-sa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Monitoring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Dashboard (8 widgets) + 4 alert policies + uptime check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Cloud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CI/CD pipeline · asia-south1 · Binary Auth signing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APIs Enabled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62626"/>
                          </a:solidFill>
                        </a:rPr>
                        <a:t>19 GCP APIs (Vertex AI, Cloud Run, KMS, IAM, BQ, Firestore…)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CI/CD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Cloud Build · Binary Authorization · KMS signing · Automated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252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1. git push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3619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Developer pushes to main branch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2252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2. Cloud Build Trigger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3619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9105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Auto-triggered on push to 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2316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45973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3. docker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77063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82549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Container built in asia-south1 region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42316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45973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4. Push to Artifact Registry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77063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82549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Image tagged with commit SHA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65760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69417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5. KMS Sign Image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00507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05993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RSA-4096 signature via Cloud KMS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5760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69417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6. Binary Auth Check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00507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05993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Cloud Run verifies signature before deploy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89204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92861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7. Cloud Run Deploy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3951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9437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Zero-downtime rolling deployment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892040"/>
            <a:ext cx="54864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92861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8. Smoke Test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5239512"/>
            <a:ext cx="548640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529437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Health check + BQ query verify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23620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55A11"/>
                </a:solidFill>
              </a:rPr>
              <a:t>Security gate: Binary Authorization BLOCKS deployment if image is unsigned — no exceptions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What's done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</a:rPr>
              <a:t>ChandraAILabs · Enterprise HR RAG Platform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2743200" cy="347472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1704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1 — Infrastructure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90472"/>
            <a:ext cx="2743200" cy="256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50876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6B3C"/>
                </a:solidFill>
              </a:rPr>
              <a:t>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64792"/>
            <a:ext cx="274320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828800"/>
            <a:ext cx="2560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VPC + subnets + Cloud NAT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IAM + KMS + Binary Auth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GCS + BigQuery + Firestore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Vertex AI Vector Search + Cloud SQL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CI/CD with Cloud 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143000"/>
            <a:ext cx="2743200" cy="347472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00984" y="11704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2 — Personal RAG + Auth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1490472"/>
            <a:ext cx="2743200" cy="256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0984" y="150876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6B3C"/>
                </a:solidFill>
              </a:rPr>
              <a:t>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1764792"/>
            <a:ext cx="274320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828800"/>
            <a:ext cx="2560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Google OAuth (company email)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HR database with employee data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Query router (personal/hybrid/policy)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Personal RAG + Streamlit chat UI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10 HR policy documents ingested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143000"/>
            <a:ext cx="27432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11704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3 — MLOps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490472"/>
            <a:ext cx="2743200" cy="256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50876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75B6"/>
                </a:solidFill>
              </a:rPr>
              <a:t>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764792"/>
            <a:ext cx="274320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828800"/>
            <a:ext cx="2560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✅ Structured JSON logging + Cloud Monitoring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✅ L1 + L2 response caching (in-memory + Firestore)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✅ User feedback (👍/👎) to BigQuery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✅ Query router fix (word-boundary regex)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🔲 Vertex AI Experiments tracking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🔲 A/B testing framework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1143000"/>
            <a:ext cx="2743200" cy="3474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4584" y="11704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4 — Advanced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1490472"/>
            <a:ext cx="2743200" cy="256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4584" y="150876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595959"/>
                </a:solidFill>
              </a:rPr>
              <a:t>PLANNED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1764792"/>
            <a:ext cx="274320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1828800"/>
            <a:ext cx="2560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Multi-tenancy support (multiple orgs)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Slack / Teams bot integration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Chainlit / FastAPI+React UI migration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Mobile app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•  Drift monitoring + automated retraining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DD7EE"/>
                </a:solidFill>
              </a:rPr>
              <a:t>Enterprise HR RAG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331720"/>
            <a:ext cx="5788152" cy="3657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26060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DD7EE"/>
                </a:solidFill>
              </a:rPr>
              <a:t>Author: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6060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Chandra Nakkalakunta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99008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DD7EE"/>
                </a:solidFill>
              </a:rPr>
              <a:t>Role: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990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Principal Cloud &amp; AI/ML 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3741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DD7EE"/>
                </a:solidFill>
              </a:rPr>
              <a:t>Location: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3741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Hyderabad, India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75818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DD7EE"/>
                </a:solidFill>
              </a:rPr>
              <a:t>LinkedIn: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7581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linkedin.com/in/chandra-nakkalakunta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14223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DD7EE"/>
                </a:solidFill>
              </a:rPr>
              <a:t>GitHub: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422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github.com/chandranakkalakunta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5262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DD7EE"/>
                </a:solidFill>
              </a:rPr>
              <a:t>Website: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chandraailabs.com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5120640"/>
            <a:ext cx="6336792" cy="457200"/>
          </a:xfrm>
          <a:prstGeom prst="rect">
            <a:avLst/>
          </a:prstGeom>
          <a:solidFill>
            <a:srgbClr val="1E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5148072"/>
            <a:ext cx="6245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🌐  Live Demo: hr-rag-engine-946703664996.asia-south1.run.app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150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DD7EE"/>
                </a:solidFill>
              </a:rPr>
              <a:t>demo@chandraailabs.com / demo123  ·  guest@chandraailabs.com / guest123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