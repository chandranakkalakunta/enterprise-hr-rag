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771900"/>
            <a:ext cx="12188952" cy="3086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BDD7EE"/>
                </a:solidFill>
              </a:rPr>
              <a:t>CHANDRAAILABS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Enterprise HR RAG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317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DD7EE"/>
                </a:solidFill>
              </a:rPr>
              <a:t>Production-Grade Retrieval-Augmented Generation on Google Cloud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3108960"/>
            <a:ext cx="5788152" cy="36576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3337560"/>
            <a:ext cx="1828800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364992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Hybrid RAG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90088" y="3337560"/>
            <a:ext cx="1828800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35808" y="3364992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Google Cloud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65776" y="3337560"/>
            <a:ext cx="1828800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11496" y="3364992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Gemini 2.5 Flash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1464" y="3337560"/>
            <a:ext cx="1828800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87184" y="3364992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Vertex AI Vector Search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17152" y="3337560"/>
            <a:ext cx="1828800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62872" y="3364992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Enterprise Security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114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Chandra Nakkalakunta  ·  Principal Cloud &amp; AI/ML Architect  ·  Hyderabad, India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52628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DD7EE"/>
                </a:solidFill>
              </a:rPr>
              <a:t>linkedin.com/in/chandra-nakkalakunta  ·  chandraailabs.com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5074920"/>
            <a:ext cx="6336792" cy="457200"/>
          </a:xfrm>
          <a:prstGeom prst="rect">
            <a:avLst/>
          </a:prstGeom>
          <a:solidFill>
            <a:srgbClr val="1E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71800" y="5102352"/>
            <a:ext cx="62453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🌐  Live Demo: hr-rag-engine-946703664996.asia-south1.run.app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DD7EE"/>
                </a:solidFill>
              </a:rPr>
              <a:t>ChandraAILabs · Enterprise HR RAG Platform · Confidential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347472" cy="29260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243584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2344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</a:rPr>
              <a:t>Problem Statement &amp; Business Value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600200"/>
            <a:ext cx="347472" cy="29260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1609344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16002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</a:rPr>
              <a:t>System Architecture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965960"/>
            <a:ext cx="347472" cy="29260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1975104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19659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</a:rPr>
              <a:t>Hybrid RAG — Retrieval Engine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331720"/>
            <a:ext cx="347472" cy="29260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2340864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23317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</a:rPr>
              <a:t>Personal RAG — Personalised Answers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697480"/>
            <a:ext cx="347472" cy="29260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2706624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26974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</a:rPr>
              <a:t>Response Caching (L1 + L2)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063240"/>
            <a:ext cx="347472" cy="29260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072384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30632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</a:rPr>
              <a:t>Security Architecture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429000"/>
            <a:ext cx="347472" cy="29260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" y="3438144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" y="34290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</a:rPr>
              <a:t>Privacy &amp; Compliance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1234440"/>
            <a:ext cx="347472" cy="29260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27648" y="1243584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48272" y="12344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</a:rPr>
              <a:t>Analytics &amp; User Feedback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1600200"/>
            <a:ext cx="347472" cy="29260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27648" y="1609344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48272" y="16002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</a:rPr>
              <a:t>Operational Monitoring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1965960"/>
            <a:ext cx="347472" cy="29260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27648" y="1975104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48272" y="19659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</a:rPr>
              <a:t>Performance &amp; Evaluation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2331720"/>
            <a:ext cx="347472" cy="29260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27648" y="2340864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48272" y="23317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</a:rPr>
              <a:t>Scalability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2697480"/>
            <a:ext cx="347472" cy="29260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27648" y="2706624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48272" y="26974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</a:rPr>
              <a:t>Infrastructure &amp; GCP Resources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9360" y="3063240"/>
            <a:ext cx="347472" cy="29260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27648" y="3072384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48272" y="30632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</a:rPr>
              <a:t>CI/CD Pipeline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09360" y="3429000"/>
            <a:ext cx="347472" cy="29260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27648" y="3438144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48272" y="34290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</a:rPr>
              <a:t>Roadmap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Problem Statement &amp; Business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DD7EE"/>
                </a:solidFill>
              </a:rPr>
              <a:t>Why enterprises need smarter HR Q&amp;A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DD7EE"/>
                </a:solidFill>
              </a:rPr>
              <a:t>ChandraAILabs · Enterprise HR RAG Platform ·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5394960" cy="53492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2344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3A6B"/>
                </a:solidFill>
              </a:rPr>
              <a:t>❌  Current Challenges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691640"/>
            <a:ext cx="5212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595959"/>
                </a:solidFill>
              </a:rPr>
              <a:t>•  HR team spends 30-40% of time on repetitive policy questions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595959"/>
                </a:solidFill>
              </a:rPr>
              <a:t>•  Employees wait hours for answers to leave / WFH / CTC queries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595959"/>
                </a:solidFill>
              </a:rPr>
              <a:t>•  Policy documents scattered across SharePoint, Drive, Confluence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595959"/>
                </a:solidFill>
              </a:rPr>
              <a:t>•  No unified personal data view — employee must switch 3-4 systems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595959"/>
                </a:solidFill>
              </a:rPr>
              <a:t>•  Compliance risk from informal/verbal HR guidance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595959"/>
                </a:solidFill>
              </a:rPr>
              <a:t>•  Zero analytics on what employees actually struggle with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143000"/>
            <a:ext cx="5943600" cy="534924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123444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6B3C"/>
                </a:solidFill>
              </a:rPr>
              <a:t>✅  How This Platform Solves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1691640"/>
            <a:ext cx="5760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595959"/>
                </a:solidFill>
              </a:rPr>
              <a:t>•  Instant natural language answers from official HR policy docs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595959"/>
                </a:solidFill>
              </a:rPr>
              <a:t>•  Personal data (leaves, CTC, rating) served directly from HR DB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595959"/>
                </a:solidFill>
              </a:rPr>
              <a:t>•  Hybrid RAG retrieves from all document sources simultaneously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595959"/>
                </a:solidFill>
              </a:rPr>
              <a:t>•  Query router auto-detects intent — personal vs policy vs hybrid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595959"/>
                </a:solidFill>
              </a:rPr>
              <a:t>•  Every answer cites the authoritative source document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595959"/>
                </a:solidFill>
              </a:rPr>
              <a:t>•  BigQuery analytics reveal top pain points — PII-free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DD7EE"/>
                </a:solidFill>
              </a:rPr>
              <a:t>End-to-end flow from employee question to personalised answer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DD7EE"/>
                </a:solidFill>
              </a:rPr>
              <a:t>ChandraAILabs · Enterprise HR RAG Platform ·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1828800" cy="6858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234440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Employee
(Browser)</a:t>
            </a:r>
          </a:p>
        </p:txBody>
      </p:sp>
      <p:sp>
        <p:nvSpPr>
          <p:cNvPr id="9" name="Rectangle 8"/>
          <p:cNvSpPr/>
          <p:nvPr/>
        </p:nvSpPr>
        <p:spPr>
          <a:xfrm>
            <a:off x="2377440" y="1188720"/>
            <a:ext cx="1828800" cy="6858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23160" y="1234440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Google
OAuth 2.0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188720"/>
            <a:ext cx="1828800" cy="6858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234440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Streamlit
UI (Cloud Run)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0" y="1188720"/>
            <a:ext cx="1828800" cy="6858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12280" y="1234440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Query
Router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0" y="1188720"/>
            <a:ext cx="1828800" cy="685800"/>
          </a:xfrm>
          <a:prstGeom prst="rect">
            <a:avLst/>
          </a:prstGeom>
          <a:solidFill>
            <a:srgbClr val="1E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89720" y="1234440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Gemini 2.5
Flash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138988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95959"/>
                </a:solidFill>
              </a:rPr>
              <a:t>→ OAuth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138988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95959"/>
                </a:solidFill>
              </a:rPr>
              <a:t>→ Query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138988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95959"/>
                </a:solidFill>
              </a:rPr>
              <a:t>→ Intent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42248" y="138988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95959"/>
                </a:solidFill>
              </a:rPr>
              <a:t>→ Prompt+Chunks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468880"/>
            <a:ext cx="2743200" cy="2743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48716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Personal Intent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834640"/>
            <a:ext cx="2743200" cy="7315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2852928"/>
            <a:ext cx="265176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B3A6B"/>
                </a:solidFill>
              </a:rPr>
              <a:t>Cloud SQL
PostgreSQL
(HR Database)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54880" y="2468880"/>
            <a:ext cx="2743200" cy="2743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00600" y="248716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Policy Intent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54880" y="2834640"/>
            <a:ext cx="2743200" cy="7315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00600" y="2852928"/>
            <a:ext cx="265176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B3A6B"/>
                </a:solidFill>
              </a:rPr>
              <a:t>BM25 + Vector
Search (RRF
Fusion)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61120" y="2468880"/>
            <a:ext cx="2743200" cy="27432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06840" y="248716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Hybrid Intent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961120" y="2834640"/>
            <a:ext cx="2743200" cy="7315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06840" y="2852928"/>
            <a:ext cx="265176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B3A6B"/>
                </a:solidFill>
              </a:rPr>
              <a:t>DB + Retrieval
Combined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40480" y="3840480"/>
            <a:ext cx="4572000" cy="594360"/>
          </a:xfrm>
          <a:prstGeom prst="rect">
            <a:avLst/>
          </a:prstGeom>
          <a:solidFill>
            <a:srgbClr val="1E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31920" y="3913632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Personalised Answer + Source Citations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461772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3A6B"/>
                </a:solidFill>
              </a:rPr>
              <a:t>Observability &amp; Storage Layer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4892040"/>
            <a:ext cx="2011680" cy="5943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4919472"/>
            <a:ext cx="1920240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Firestore
Cache (L2)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468880" y="4892040"/>
            <a:ext cx="2011680" cy="5943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14600" y="4919472"/>
            <a:ext cx="1920240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BigQuery
Analytics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63440" y="4892040"/>
            <a:ext cx="2011680" cy="5943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09160" y="4919472"/>
            <a:ext cx="1920240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Cloud
Logging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858000" y="4892040"/>
            <a:ext cx="2011680" cy="5943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03720" y="4919472"/>
            <a:ext cx="1920240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Cloud
Monitoring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052560" y="4892040"/>
            <a:ext cx="2011680" cy="594360"/>
          </a:xfrm>
          <a:prstGeom prst="rect">
            <a:avLst/>
          </a:prstGeom>
          <a:solidFill>
            <a:srgbClr val="1E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98280" y="4919472"/>
            <a:ext cx="1920240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User
Feedback BQ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Hybrid RAG — Retrieval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DD7EE"/>
                </a:solidFill>
              </a:rPr>
              <a:t>BM25 sparse + Vertex AI Vector Search dense, fused with Reciprocal Rank Fusion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DD7EE"/>
                </a:solidFill>
              </a:rPr>
              <a:t>ChandraAILabs · Enterprise HR RAG Platform ·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5669280" cy="53492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2344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3A6B"/>
                </a:solidFill>
              </a:rPr>
              <a:t>Retrieval Pipeline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664208"/>
            <a:ext cx="1828800" cy="34747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1700784"/>
            <a:ext cx="1773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1. User Query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1700784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Raw natural language question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322576"/>
            <a:ext cx="1828800" cy="34747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2359152"/>
            <a:ext cx="1773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2. BM25 Sparse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2359152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Keyword matching, top-k candidates from local index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980944"/>
            <a:ext cx="1828800" cy="34747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" y="3017520"/>
            <a:ext cx="1773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3. Gemini Embedding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3017520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gemini-embedding-001 (3072 dims) → dense vector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3639312"/>
            <a:ext cx="1828800" cy="34747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" y="3675888"/>
            <a:ext cx="1773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4. Vector Search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3675888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Vertex AI ANN index (STREAM_UPDATE mode), asia-south1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297680"/>
            <a:ext cx="1828800" cy="34747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" y="4334256"/>
            <a:ext cx="1773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5. RRF Fusion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4334256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Reciprocal Rank Fusion merges both result sets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4956048"/>
            <a:ext cx="1828800" cy="34747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" y="4992624"/>
            <a:ext cx="1773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6. Top-3 Chunks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77440" y="4992624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Highest-scored passages sent to Gemini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5614416"/>
            <a:ext cx="1828800" cy="34747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" y="5650992"/>
            <a:ext cx="1773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7. Generation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40" y="5650992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Gemini 2.5 Flash generates cited answer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1143000"/>
            <a:ext cx="5577840" cy="237744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80" y="123444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A6B"/>
                </a:solidFill>
              </a:rPr>
              <a:t>Configuration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1627632"/>
            <a:ext cx="5394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262626"/>
                </a:solidFill>
              </a:rPr>
              <a:t>•  chunk_size = 1024 tokens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626"/>
                </a:solidFill>
              </a:rPr>
              <a:t>•  chunk_overlap = 200 tokens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626"/>
                </a:solidFill>
              </a:rPr>
              <a:t>•  alpha = 0.2 (BM25 weight)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626"/>
                </a:solidFill>
              </a:rPr>
              <a:t>•  top_k_final = 3 chunks to LLM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626"/>
                </a:solidFill>
              </a:rPr>
              <a:t>•  index dims = 3072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626"/>
                </a:solidFill>
              </a:rPr>
              <a:t>•  distance_measure = DOT_PRODUCT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3657600"/>
            <a:ext cx="5577840" cy="2834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5080" y="3749039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A6B"/>
                </a:solidFill>
              </a:rPr>
              <a:t>Evaluation Results (60 questions · RAGAS)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6355080" y="4114800"/>
          <a:ext cx="512064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097280"/>
                <a:gridCol w="1188720"/>
                <a:gridCol w="1005840"/>
              </a:tblGrid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BM25 Only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Hybrid RAG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Latest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Avg Relevancy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0.635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0.674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0.863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Source Accuracy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1.000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1.000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0.967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Easy Questions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0.706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0.740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0.850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Medium Questions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0.611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0.630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0.910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Hard Questions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0.377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0.522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0.830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Personal RAG — Personalised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DD7EE"/>
                </a:solidFill>
              </a:rPr>
              <a:t>Employee-specific data from Cloud SQL merged with policy 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DD7EE"/>
                </a:solidFill>
              </a:rPr>
              <a:t>ChandraAILabs · Enterprise HR RAG Platform · Confidential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188720"/>
          <a:ext cx="1143000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188720"/>
                <a:gridCol w="2194560"/>
                <a:gridCol w="5120640"/>
              </a:tblGrid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Question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Intent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Data Source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Example Answer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How many leaves do I have?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personal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Cloud SQL HR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You have 12 casual + 0 sick leaves remaining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What is my CTC?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personal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Cloud SQL HR DB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Your CTC is ₹18.0L as of Jan 2024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What is my performance rating?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personal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Cloud SQL HR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Your latest rating: 4.5 / 5.0 (Exceeds)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Who is my manager?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personal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Cloud SQL HR DB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Your reporting manager is Rajesh Kumar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Am I eligible for WFH?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hybrid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DB + Policy Docs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Yes — Senior Engineers can WFH 3 days/week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What is the WFH policy?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policy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Policy Docs (RAG)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According to Remote Work Policy v2.1...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4320" y="4160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A6B"/>
                </a:solidFill>
              </a:rPr>
              <a:t>Query Router — Intent Detection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4572000"/>
            <a:ext cx="3749039" cy="3200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4599432"/>
            <a:ext cx="36576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Personal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4919472"/>
            <a:ext cx="3749039" cy="137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4956048"/>
            <a:ext cx="3566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Regex detects \b(my|i)\b + personal data keywords
→ Direct Cloud SQL query, no vector search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59" y="4572000"/>
            <a:ext cx="3749039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79" y="4599432"/>
            <a:ext cx="36576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Hybrid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59" y="4919472"/>
            <a:ext cx="3749039" cy="137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399" y="4956048"/>
            <a:ext cx="3566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Personal + policy context needed
→ DB lookup + RAG retrieval + combined prompt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598" y="4572000"/>
            <a:ext cx="3749039" cy="320040"/>
          </a:xfrm>
          <a:prstGeom prst="rect">
            <a:avLst/>
          </a:prstGeom>
          <a:solidFill>
            <a:srgbClr val="1E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18" y="4599432"/>
            <a:ext cx="36576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Policy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598" y="4919472"/>
            <a:ext cx="3749039" cy="137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38" y="4956048"/>
            <a:ext cx="3566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Policy-only keywords (what is, how to, WFH policy)
→ BM25 + Vector Search + Gemini generation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Response Caching — L1 + L2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DD7EE"/>
                </a:solidFill>
              </a:rPr>
              <a:t>Two-level cache for sub-second policy responses · Personal queries never cached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DD7EE"/>
                </a:solidFill>
              </a:rPr>
              <a:t>ChandraAILabs · Enterprise HR RAG Platform ·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3657600" cy="34747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70432"/>
            <a:ext cx="35112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L1 — In-Memory Cache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508760"/>
            <a:ext cx="3657600" cy="3657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72768"/>
            <a:ext cx="3474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262626"/>
                </a:solidFill>
              </a:rPr>
              <a:t>•  Type: Python dict per Cloud Run instance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626"/>
                </a:solidFill>
              </a:rPr>
              <a:t>•  TTL: 30 minutes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626"/>
                </a:solidFill>
              </a:rPr>
              <a:t>•  Size: 100 entries (LRU eviction)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626"/>
                </a:solidFill>
              </a:rPr>
              <a:t>•  Scope: Single container instance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626"/>
                </a:solidFill>
              </a:rPr>
              <a:t>•  BQ tag: model_used = cache_l1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626"/>
                </a:solidFill>
              </a:rPr>
              <a:t>•  Latency on hit: ~0 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5257800"/>
            <a:ext cx="3657600" cy="29260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" y="5276088"/>
            <a:ext cx="35112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Fastest — no I/O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60520" y="1143000"/>
            <a:ext cx="3657600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33672" y="1170432"/>
            <a:ext cx="35112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L2 — Firestore Cache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60520" y="1508760"/>
            <a:ext cx="3657600" cy="3657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51960" y="1572768"/>
            <a:ext cx="3474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262626"/>
                </a:solidFill>
              </a:rPr>
              <a:t>•  Type: Firestore 'rag_cache' collection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626"/>
                </a:solidFill>
              </a:rPr>
              <a:t>•  TTL: 24 hours (expires_at field)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626"/>
                </a:solidFill>
              </a:rPr>
              <a:t>•  Size: Unlimited (GCP managed)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626"/>
                </a:solidFill>
              </a:rPr>
              <a:t>•  Scope: Shared across all instances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626"/>
                </a:solidFill>
              </a:rPr>
              <a:t>•  BQ tag: model_used = cache_l2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626"/>
                </a:solidFill>
              </a:rPr>
              <a:t>•  Latency on hit: ~30-50 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60520" y="5257800"/>
            <a:ext cx="3657600" cy="2926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33672" y="5276088"/>
            <a:ext cx="35112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Survives redeployments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1143000"/>
            <a:ext cx="3657600" cy="347472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19872" y="1170432"/>
            <a:ext cx="35112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Cache Miss — Full Pipeline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0" y="1508760"/>
            <a:ext cx="3657600" cy="3657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0" y="1572768"/>
            <a:ext cx="3474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262626"/>
                </a:solidFill>
              </a:rPr>
              <a:t>•  BM25 keyword search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626"/>
                </a:solidFill>
              </a:rPr>
              <a:t>•  Vertex AI Vector Search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626"/>
                </a:solidFill>
              </a:rPr>
              <a:t>•  RRF fusion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626"/>
                </a:solidFill>
              </a:rPr>
              <a:t>•  Gemini 2.5 Flash generation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626"/>
                </a:solidFill>
              </a:rPr>
              <a:t>•  Write to L1 + L2 (non-blocking)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626"/>
                </a:solidFill>
              </a:rPr>
              <a:t>•  BQ tag: model_used = gemini-2.5-flash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20" y="5257800"/>
            <a:ext cx="3657600" cy="292608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19872" y="5276088"/>
            <a:ext cx="35112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~3-5 seconds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5669280"/>
            <a:ext cx="11612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55A11"/>
                </a:solidFill>
              </a:rPr>
              <a:t>⚠️  Personal &amp; hybrid queries are NEVER cached — employee data must not be shared across users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Security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DD7EE"/>
                </a:solidFill>
              </a:rPr>
              <a:t>Defence-in-depth across identity, container, network, data, and audit layers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DD7EE"/>
                </a:solidFill>
              </a:rPr>
              <a:t>ChandraAILabs · Enterprise HR RAG Platform · Confidential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188720"/>
          <a:ext cx="11521440" cy="3127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7315200"/>
              </a:tblGrid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Layer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Control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Implementation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Identity &amp; Auth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Google OAuth 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Company email domain enforcement; session tokens in-memory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Container Security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Binary Authorization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Only KMS RSA-4096 signed images permitted on Cloud Run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Secret Management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Secret Manager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GEMINI_API_KEY, DB password — never in env vars or code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Service Identity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4 Service Accounts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rag-engine-sa, ingestion-sa, evaluation-sa, cicd-sa (least privilege)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Data Encryption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CMEK + Cloud KMS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hr-rag-keyring encrypts GCS buckets, Cloud SQL, Firestore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Network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VPC + Private Subnets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Cloud SQL on private IP; Cloud NAT for outbound; no public DB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Audit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Cloud Logging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All API calls logged; structured JSON with severity, user_id hash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Container Image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Artifact Registry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Signed images only; vulnerability scanning on push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4320" y="576072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95959"/>
                </a:solidFill>
              </a:rPr>
              <a:t>Zero-Trust Principle: every component authenticates with a dedicated service account; no shared credentials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Privacy &amp;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DD7EE"/>
                </a:solidFill>
              </a:rPr>
              <a:t>GDPR Article 5 · India DPDP Act 2023 · Zero PII in analytics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DD7EE"/>
                </a:solidFill>
              </a:rPr>
              <a:t>ChandraAILabs · Enterprise HR RAG Platform ·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5394960" cy="4892040"/>
          </a:xfrm>
          <a:prstGeom prst="rect">
            <a:avLst/>
          </a:prstGeom>
          <a:solidFill>
            <a:srgbClr val="E8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2344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6B3C"/>
                </a:solidFill>
              </a:rPr>
              <a:t>✅  BigQuery STORES (anonymised)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627632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595959"/>
                </a:solidFill>
              </a:rPr>
              <a:t>•  hashed_user_id — SHA-256, irreversible, 16-char prefix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595959"/>
                </a:solidFill>
              </a:rPr>
              <a:t>•  question_category — leave / wfh / compensation / ...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595959"/>
                </a:solidFill>
              </a:rPr>
              <a:t>•  intent — personal / policy / hybrid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595959"/>
                </a:solidFill>
              </a:rPr>
              <a:t>•  department — Engineering / HR / Finance / ...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595959"/>
                </a:solidFill>
              </a:rPr>
              <a:t>•  latency_ms — response time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595959"/>
                </a:solidFill>
              </a:rPr>
              <a:t>•  model_used — cache_l1 / cache_l2 / gemini-2.5-flash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595959"/>
                </a:solidFill>
              </a:rPr>
              <a:t>•  success — true / false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595959"/>
                </a:solidFill>
              </a:rPr>
              <a:t>•  session_id — UUID per browser session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595959"/>
                </a:solidFill>
              </a:rPr>
              <a:t>•  timestamp — UTC (BQ partition key)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595959"/>
                </a:solidFill>
              </a:rPr>
              <a:t>•  feedback — positive / negative (feedback_logs table)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143000"/>
            <a:ext cx="5943600" cy="2560320"/>
          </a:xfrm>
          <a:prstGeom prst="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123444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55A11"/>
                </a:solidFill>
              </a:rPr>
              <a:t>❌  BigQuery NEVER STORES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1627632"/>
            <a:ext cx="5760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595959"/>
                </a:solidFill>
              </a:rPr>
              <a:t>•  Employee name or email address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595959"/>
                </a:solidFill>
              </a:rPr>
              <a:t>•  Actual question text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595959"/>
                </a:solidFill>
              </a:rPr>
              <a:t>•  Actual answer text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595959"/>
                </a:solidFill>
              </a:rPr>
              <a:t>•  CTC or salary figures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595959"/>
                </a:solidFill>
              </a:rPr>
              <a:t>•  Leave balance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595959"/>
                </a:solidFill>
              </a:rPr>
              <a:t>•  Performance ratings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595959"/>
                </a:solidFill>
              </a:rPr>
              <a:t>•  Manager names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3840480"/>
            <a:ext cx="5943600" cy="2194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393192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A6B"/>
                </a:solidFill>
              </a:rPr>
              <a:t>Compliance Mapping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080760" y="4297680"/>
          <a:ext cx="54864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474720"/>
              </a:tblGrid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Regulation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How Met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GDPR Art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Data minimisation — no PII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India DPDP 2023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Anonymised analytics only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Right to Erasure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Firestore TTL + partitioned BQ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Data Retention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BQ partitioned → auto-expire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Analytics &amp; User 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DD7EE"/>
                </a:solidFill>
              </a:rPr>
              <a:t>Live BigQuery data · PII-free · Actionable insights for HR and Engineering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DD7EE"/>
                </a:solidFill>
              </a:rPr>
              <a:t>ChandraAILabs · Enterprise HR RAG Platform ·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70432"/>
            <a:ext cx="11430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</a:rPr>
              <a:t>Query Volume by Category (live data — 2026-05-26)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1508760"/>
          <a:ext cx="6217920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097280"/>
                <a:gridCol w="1005840"/>
                <a:gridCol w="1371600"/>
                <a:gridCol w="1280160"/>
              </a:tblGrid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Category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Intent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Queries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Avg Latency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Cache Hits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leave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policy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209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4,351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9 (4%)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wfh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policy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101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4,536 ms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3 (3%)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performance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policy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4,793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1 (2%)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travel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policy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3,535 ms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performance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hybrid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5,400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general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personal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2,195 ms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compensation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personal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2,223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766560" y="1143000"/>
            <a:ext cx="5120640" cy="3200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234440"/>
            <a:ext cx="4937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</a:rPr>
              <a:t>Key Observations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1600200"/>
            <a:ext cx="49377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595959"/>
                </a:solidFill>
              </a:rPr>
              <a:t>•  Personal queries (2-2.2s) are ~2× faster than policy — no vector search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595959"/>
                </a:solidFill>
              </a:rPr>
              <a:t>•  Hybrid queries (5.4s) slowest — DB + retrieval + generation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595959"/>
                </a:solidFill>
              </a:rPr>
              <a:t>•  Leave and WFH are most queried — useful for HR planning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595959"/>
                </a:solidFill>
              </a:rPr>
              <a:t>•  Cache hit rate grows with usage (survives via Firestore L2)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66560" y="4480560"/>
            <a:ext cx="5120640" cy="201168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03720" y="4572000"/>
            <a:ext cx="4937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</a:rPr>
              <a:t>User Feedback (👍 / 👎)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4919472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595959"/>
                </a:solidFill>
              </a:rPr>
              <a:t>•  Per-response thumbs up / thumbs down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595959"/>
                </a:solidFill>
              </a:rPr>
              <a:t>•  Logged to BigQuery feedback_logs table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595959"/>
                </a:solidFill>
              </a:rPr>
              <a:t>•  Anonymised — SHA-256 hashed user ID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595959"/>
                </a:solidFill>
              </a:rPr>
              <a:t>•  Enables satisfaction tracking by category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595959"/>
                </a:solidFill>
              </a:rPr>
              <a:t>•  Powers continuous improvement roadmap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46177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3A6B"/>
                </a:solidFill>
              </a:rPr>
              <a:t>Sample BQ Query 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919472"/>
            <a:ext cx="6400800" cy="15087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4956048"/>
            <a:ext cx="62179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DCFE"/>
                </a:solidFill>
              </a:rPr>
              <a:t>SELECT question_category, intent,
  COUNTIF(feedback='positive') AS up,
  ROUND(COUNTIF(feedback='positive')*100.0/COUNT(*),1) AS pct
FROM `hr-rag-dev.hr_rag_metrics.feedback_logs`
GROUP BY 1,2 ORDER BY up DESC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Operational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DD7EE"/>
                </a:solidFill>
              </a:rPr>
              <a:t>Structured JSON logging + Cloud Monitoring dashboard + 4 alert policies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DD7EE"/>
                </a:solidFill>
              </a:rPr>
              <a:t>ChandraAILabs · Enterprise HR RAG Platform ·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5394960" cy="2834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234440"/>
            <a:ext cx="5212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</a:rPr>
              <a:t>App Layer — src/monitoring/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600200"/>
            <a:ext cx="5212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595959"/>
                </a:solidFill>
              </a:rPr>
              <a:t>•  Structured JSON logs — severity, message, timestamp, extra fields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595959"/>
                </a:solidFill>
              </a:rPr>
              <a:t>•  Every query logs: intent, latency_ms, chunks_retrieved, success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595959"/>
                </a:solidFill>
              </a:rPr>
              <a:t>•  Cloud Run stdout → Cloud Logging parses JSON automatically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595959"/>
                </a:solidFill>
              </a:rPr>
              <a:t>•  Per-user analytics to BigQuery (anonymised, non-blocking thread)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4114800"/>
            <a:ext cx="5394960" cy="237744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4206240"/>
            <a:ext cx="5212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</a:rPr>
              <a:t>GCP Layer — Cloud Monitoring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572000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595959"/>
                </a:solidFill>
              </a:rPr>
              <a:t>•  8-widget dashboard (request rate, p50/p95/p99 latency, error rate, CPU, memory, instances)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595959"/>
                </a:solidFill>
              </a:rPr>
              <a:t>•  Uptime check — 5-min interval, asia-pacific probe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143000"/>
            <a:ext cx="5943600" cy="53492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234440"/>
            <a:ext cx="5760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</a:rPr>
              <a:t>Alert Policies (all → email notification)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0760" y="1664208"/>
            <a:ext cx="5577840" cy="347472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700784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🔔  5xx Error Rate &gt; 5%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60" y="2011680"/>
            <a:ext cx="557784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2048256"/>
            <a:ext cx="53949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5 min sustained · triggers incident response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2807208"/>
            <a:ext cx="5577840" cy="347472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2843784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🔔  p99 Latency &gt; 5s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80760" y="3154680"/>
            <a:ext cx="557784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3191256"/>
            <a:ext cx="53949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5 min sustained · investigate retrieval perf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80760" y="3950208"/>
            <a:ext cx="5577840" cy="347472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72200" y="3986784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🔔  Service Down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0760" y="4297680"/>
            <a:ext cx="557784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72200" y="4334256"/>
            <a:ext cx="53949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Zero active instances for 10 min · critical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80760" y="5093208"/>
            <a:ext cx="5577840" cy="347472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72200" y="5129784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🔔  Memory &gt; 85%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80760" y="5440680"/>
            <a:ext cx="557784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72200" y="5477256"/>
            <a:ext cx="53949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5 min sustained · scale up or OOM risk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Performance &amp; Scalability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DD7EE"/>
                </a:solidFill>
              </a:rPr>
              <a:t>Latency profile · cache impact · Cloud Run auto-scaling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DD7EE"/>
                </a:solidFill>
              </a:rPr>
              <a:t>ChandraAILabs · Enterprise HR RAG Platform ·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5669280" cy="53492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234440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A6B"/>
                </a:solidFill>
              </a:rPr>
              <a:t>Latency Profile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11480" y="1600200"/>
          <a:ext cx="530352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463040"/>
                <a:gridCol w="1828800"/>
              </a:tblGrid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Path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Typical Latency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Notes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L1 Cache hit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~0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In-memory, no I/O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L2 Cache hit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30-50 ms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Firestore read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Personal query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1.5-2.5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SQL only, no retrieval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Policy query (miss)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3-5 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BM25 + VectorSearch + LLM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Hybrid query (miss)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4-6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DB + retrieval + LLM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Cold start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8-12 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First request on new instance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217920" y="1143000"/>
            <a:ext cx="5577840" cy="256032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234440"/>
            <a:ext cx="5394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A6B"/>
                </a:solidFill>
              </a:rPr>
              <a:t>Cloud Run Auto-Scaling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600200"/>
            <a:ext cx="5394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595959"/>
                </a:solidFill>
              </a:rPr>
              <a:t>•  Scale to zero when idle (cost-efficient)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595959"/>
                </a:solidFill>
              </a:rPr>
              <a:t>•  Scales out on concurrent requests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595959"/>
                </a:solidFill>
              </a:rPr>
              <a:t>•  Max instances configurable (default: 10)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595959"/>
                </a:solidFill>
              </a:rPr>
              <a:t>•  Concurrency = 80 requests per instance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595959"/>
                </a:solidFill>
              </a:rPr>
              <a:t>•  Min instances = 1 (avoids cold starts in prod)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3840480"/>
            <a:ext cx="5577840" cy="2651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3931920"/>
            <a:ext cx="5394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A6B"/>
                </a:solidFill>
              </a:rPr>
              <a:t>Bottlenecks &amp; Mitigations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4297680"/>
            <a:ext cx="5394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595959"/>
                </a:solidFill>
              </a:rPr>
              <a:t>•  Vector Search cold index → mitigated by L1/L2 cache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595959"/>
                </a:solidFill>
              </a:rPr>
              <a:t>•  Gemini API latency → mitigated by streaming + cache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595959"/>
                </a:solidFill>
              </a:rPr>
              <a:t>•  Cloud SQL connection pool → pgbouncer in prod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595959"/>
                </a:solidFill>
              </a:rPr>
              <a:t>•  Streamlit single-thread → planned Chainlit migration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595959"/>
                </a:solidFill>
              </a:rPr>
              <a:t>•  BQ analytics write → daemon thread, never blocks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Infrastructure &amp; GCP Resources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DD7EE"/>
                </a:solidFill>
              </a:rPr>
              <a:t>Fully automated — 14 idempotent shell scripts + Makefile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DD7EE"/>
                </a:solidFill>
              </a:rPr>
              <a:t>ChandraAILabs · Enterprise HR RAG Platform · Confidential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188720"/>
          <a:ext cx="1152144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8961120"/>
              </a:tblGrid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Resource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Details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Project 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hr-rag-dev | Region: asia-south1 (Mumbai)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VPC Network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hr-rag-vpc | 10.1.0.0/24 (app) + 10.2.0.0/24 (data)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Cloud Run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hr-rag-engine | auto-scaling 0-10 | concurrency 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Vertex AI Vector Search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3072 dims · STREAM_UPDATE · DOT_PRODUCT distance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Cloud SQL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hr-rag-db · PostgreSQL · private IP · 12 demo employees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Firestore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rag_cache collection (L2) + hr_data (10 docs, 44 chunks)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GCS Buckets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documents / processed / artifacts / audit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BigQuery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hr_rag_metrics.query_logs + feedback_logs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Secret Manager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gemini-api-key + hr-db-password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Cloud KMS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hr-rag-keyring · RSA-4096 signing key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Service Accounts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rag-engine-sa / ingestion-sa / evaluation-sa / cicd-sa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Cloud Monitoring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Dashboard (8 widgets) + 4 alert policies + uptime check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Cloud Build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CI/CD pipeline · asia-south1 · Binary Auth signing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APIs Enabled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19 GCP APIs (Vertex AI, Cloud Run, KMS, IAM, BQ, Firestore…)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CI/CD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DD7EE"/>
                </a:solidFill>
              </a:rPr>
              <a:t>Cloud Build · Binary Authorization · KMS signing · Automated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DD7EE"/>
                </a:solidFill>
              </a:rPr>
              <a:t>ChandraAILabs · Enterprise HR RAG Platform ·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5486400" cy="34747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2529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1. git push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536192"/>
            <a:ext cx="5486400" cy="7498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91056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Developer pushes to main branch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188720"/>
            <a:ext cx="5486400" cy="34747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22529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2. Cloud Build Trigger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536192"/>
            <a:ext cx="5486400" cy="7498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591056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Auto-triggered on push to main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423160"/>
            <a:ext cx="5486400" cy="34747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45973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3. docker build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770632"/>
            <a:ext cx="5486400" cy="7498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825496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Container built in asia-south1 region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2423160"/>
            <a:ext cx="5486400" cy="34747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245973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4. Push to Artifact Registry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2770632"/>
            <a:ext cx="5486400" cy="7498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825496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Image tagged with commit SHA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657600"/>
            <a:ext cx="5486400" cy="34747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369417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5. KMS Sign Image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005072"/>
            <a:ext cx="5486400" cy="7498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4059936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RSA-4096 signature via Cloud KMS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3657600"/>
            <a:ext cx="5486400" cy="34747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369417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6. Binary Auth Check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4005072"/>
            <a:ext cx="5486400" cy="7498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4059936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Cloud Run verifies signature before deploy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892040"/>
            <a:ext cx="5486400" cy="34747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492861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7. Cloud Run Deploy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5239512"/>
            <a:ext cx="5486400" cy="7498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5294376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Zero-downtime rolling deployment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4892040"/>
            <a:ext cx="5486400" cy="34747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60" y="492861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8. Smoke Test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5239512"/>
            <a:ext cx="5486400" cy="7498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0" y="5294376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Health check + BQ query verify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" y="623620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55A11"/>
                </a:solidFill>
              </a:rPr>
              <a:t>Security gate: Binary Authorization BLOCKS deployment if image is unsigned — no exceptions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DD7EE"/>
                </a:solidFill>
              </a:rPr>
              <a:t>What's done · What's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DD7EE"/>
                </a:solidFill>
              </a:rPr>
              <a:t>ChandraAILabs · Enterprise HR RAG Platform ·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2743200" cy="347472"/>
          </a:xfrm>
          <a:prstGeom prst="rect">
            <a:avLst/>
          </a:prstGeom>
          <a:solidFill>
            <a:srgbClr val="1E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" y="1170432"/>
            <a:ext cx="2633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Phase 1 — Infrastructure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490472"/>
            <a:ext cx="2743200" cy="2560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" y="1508760"/>
            <a:ext cx="2633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E6B3C"/>
                </a:solidFill>
              </a:rPr>
              <a:t>COMPLETE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764792"/>
            <a:ext cx="2743200" cy="43891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828800"/>
            <a:ext cx="2560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595959"/>
                </a:solidFill>
              </a:rPr>
              <a:t>•  VPC + subnets + Cloud NAT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595959"/>
                </a:solidFill>
              </a:rPr>
              <a:t>•  IAM + KMS + Binary Auth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595959"/>
                </a:solidFill>
              </a:rPr>
              <a:t>•  GCS + BigQuery + Firestore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595959"/>
                </a:solidFill>
              </a:rPr>
              <a:t>•  Vertex AI Vector Search + Cloud SQL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595959"/>
                </a:solidFill>
              </a:rPr>
              <a:t>•  CI/CD with Cloud Build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1143000"/>
            <a:ext cx="2743200" cy="347472"/>
          </a:xfrm>
          <a:prstGeom prst="rect">
            <a:avLst/>
          </a:prstGeom>
          <a:solidFill>
            <a:srgbClr val="1E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00984" y="1170432"/>
            <a:ext cx="2633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Phase 2 — Personal RAG + Auth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6120" y="1490472"/>
            <a:ext cx="2743200" cy="2560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00984" y="1508760"/>
            <a:ext cx="2633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E6B3C"/>
                </a:solidFill>
              </a:rPr>
              <a:t>COMPLETE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46120" y="1764792"/>
            <a:ext cx="2743200" cy="43891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37560" y="1828800"/>
            <a:ext cx="2560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595959"/>
                </a:solidFill>
              </a:rPr>
              <a:t>•  Google OAuth (company email)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595959"/>
                </a:solidFill>
              </a:rPr>
              <a:t>•  HR database with employee data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595959"/>
                </a:solidFill>
              </a:rPr>
              <a:t>•  Query router (personal/hybrid/policy)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595959"/>
                </a:solidFill>
              </a:rPr>
              <a:t>•  Personal RAG + Streamlit chat UI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595959"/>
                </a:solidFill>
              </a:rPr>
              <a:t>•  10 HR policy documents ingested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143000"/>
            <a:ext cx="2743200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72784" y="1170432"/>
            <a:ext cx="2633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Phase 3 — MLOps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490472"/>
            <a:ext cx="2743200" cy="2560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2784" y="1508760"/>
            <a:ext cx="2633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E75B6"/>
                </a:solidFill>
              </a:rPr>
              <a:t>IN PROGRESS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1764792"/>
            <a:ext cx="2743200" cy="43891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1828800"/>
            <a:ext cx="2560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595959"/>
                </a:solidFill>
              </a:rPr>
              <a:t>•  ✅ Structured JSON logging + Cloud Monitoring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595959"/>
                </a:solidFill>
              </a:rPr>
              <a:t>•  ✅ L1 + L2 response caching (in-memory + Firestore)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595959"/>
                </a:solidFill>
              </a:rPr>
              <a:t>•  ✅ User feedback (👍/👎) to BigQuery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595959"/>
                </a:solidFill>
              </a:rPr>
              <a:t>•  ✅ Query router fix (word-boundary regex)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595959"/>
                </a:solidFill>
              </a:rPr>
              <a:t>•  🔲 Vertex AI Experiments tracking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595959"/>
                </a:solidFill>
              </a:rPr>
              <a:t>•  🔲 A/B testing framework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89720" y="1143000"/>
            <a:ext cx="2743200" cy="347472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44584" y="1170432"/>
            <a:ext cx="2633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Phase 4 — Advanced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89720" y="1490472"/>
            <a:ext cx="2743200" cy="2560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44584" y="1508760"/>
            <a:ext cx="2633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595959"/>
                </a:solidFill>
              </a:rPr>
              <a:t>PLANNED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89720" y="1764792"/>
            <a:ext cx="2743200" cy="43891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81160" y="1828800"/>
            <a:ext cx="2560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595959"/>
                </a:solidFill>
              </a:rPr>
              <a:t>•  Multi-tenancy support (multiple orgs)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595959"/>
                </a:solidFill>
              </a:rPr>
              <a:t>•  Slack / Teams bot integration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595959"/>
                </a:solidFill>
              </a:rPr>
              <a:t>•  Chainlit / FastAPI+React UI migration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595959"/>
                </a:solidFill>
              </a:rPr>
              <a:t>•  Mobile app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595959"/>
                </a:solidFill>
              </a:rPr>
              <a:t>•  Drift monitoring + automated retraining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88952" cy="2743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BDD7EE"/>
                </a:solidFill>
              </a:rPr>
              <a:t>Enterprise HR RAG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331720"/>
            <a:ext cx="5788152" cy="36576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0" y="260604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BDD7EE"/>
                </a:solidFill>
              </a:rPr>
              <a:t>Author: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26060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Chandra Nakkalakunta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990088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BDD7EE"/>
                </a:solidFill>
              </a:rPr>
              <a:t>Role: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299008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Principal Cloud &amp; AI/ML Architect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3374136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BDD7EE"/>
                </a:solidFill>
              </a:rPr>
              <a:t>Location: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337413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Hyderabad, India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758184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BDD7EE"/>
                </a:solidFill>
              </a:rPr>
              <a:t>LinkedIn: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375818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linkedin.com/in/chandra-nakkalakunta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4142232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BDD7EE"/>
                </a:solidFill>
              </a:rPr>
              <a:t>GitHub: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414223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github.com/chandranakkalakunta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452628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BDD7EE"/>
                </a:solidFill>
              </a:rPr>
              <a:t>Website: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45262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chandraailabs.com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26080" y="5120640"/>
            <a:ext cx="6336792" cy="457200"/>
          </a:xfrm>
          <a:prstGeom prst="rect">
            <a:avLst/>
          </a:prstGeom>
          <a:solidFill>
            <a:srgbClr val="1E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71800" y="5148072"/>
            <a:ext cx="62453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🌐  Live Demo: hr-rag-engine-946703664996.asia-south1.run.app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7150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DD7EE"/>
                </a:solidFill>
              </a:rPr>
              <a:t>demo@chandraailabs.com / demo123  ·  guest@chandraailabs.com / guest123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